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560320"/>
            <a:ext cx="11091672" cy="12700"/>
          </a:xfrm>
          <a:prstGeom prst="rect">
            <a:avLst/>
          </a:prstGeom>
          <a:solidFill>
            <a:srgbClr val="BB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4F4F4"/>
                </a:solidFill>
                <a:latin typeface="Calibri"/>
              </a:rPr>
              <a:t>PLAUD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BBA14F"/>
                </a:solidFill>
                <a:latin typeface="Calibri"/>
              </a:rPr>
              <a:t>PHI-Safe Clinical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8888"/>
                </a:solidFill>
                <a:latin typeface="Calibri"/>
              </a:rPr>
              <a:t>A concept for privacy-first medical documentation built on Plaud recordings.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Pavan Kumar S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234440"/>
            <a:ext cx="11091672" cy="12700"/>
          </a:xfrm>
          <a:prstGeom prst="rect">
            <a:avLst/>
          </a:prstGeom>
          <a:solidFill>
            <a:srgbClr val="BB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4F4F4"/>
                </a:solidFill>
                <a:latin typeface="Calibr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3566160" cy="411480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A14F"/>
                </a:solidFill>
                <a:latin typeface="Calibri"/>
              </a:rPr>
              <a:t>Patient Data in Audio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4"/>
                </a:solidFill>
                <a:latin typeface="Calibri"/>
              </a:rPr>
              <a:t>Medical consultation recordings contain names, dates of birth, addresses, SSNs, and medical IDs. Sending raw audio or transcripts to cloud AI services is a compliance risk.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554480"/>
            <a:ext cx="3566160" cy="411480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A14F"/>
                </a:solidFill>
                <a:latin typeface="Calibri"/>
              </a:rPr>
              <a:t>HIPAA Exposure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4"/>
                </a:solidFill>
                <a:latin typeface="Calibri"/>
              </a:rPr>
              <a:t>Most AI transcription and summarization tools route data through third-party cloud APIs. This creates liability under HIPAA for any healthcare organization using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554480"/>
            <a:ext cx="3566160" cy="411480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A14F"/>
                </a:solidFill>
                <a:latin typeface="Calibri"/>
              </a:rPr>
              <a:t>No Off-the-Shelf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1945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4"/>
                </a:solidFill>
                <a:latin typeface="Calibri"/>
              </a:rPr>
              <a:t>There is no widely adopted tool that combines transcription, PHI detection, and AI summarization in a fully on-premise, HIPAA-friendly package.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234440"/>
            <a:ext cx="11091672" cy="12700"/>
          </a:xfrm>
          <a:prstGeom prst="rect">
            <a:avLst/>
          </a:prstGeom>
          <a:solidFill>
            <a:srgbClr val="BB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4F4F4"/>
                </a:solidFill>
                <a:latin typeface="Calibri"/>
              </a:rPr>
              <a:t>What Was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2103120" cy="411480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BA14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F4F4"/>
                </a:solidFill>
                <a:latin typeface="Calibri"/>
              </a:rPr>
              <a:t>Audio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1874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Plaud recording or any WAV/MP3 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1554480"/>
            <a:ext cx="2103120" cy="411480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6459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BA14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240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F4F4"/>
                </a:solidFill>
                <a:latin typeface="Calibri"/>
              </a:rPr>
              <a:t>Transcription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97480"/>
            <a:ext cx="1874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OpenAI Whisper runs locally on the device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1554480"/>
            <a:ext cx="2103120" cy="411480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16459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BA14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240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F4F4"/>
                </a:solidFill>
                <a:latin typeface="Calibri"/>
              </a:rPr>
              <a:t>PHI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697480"/>
            <a:ext cx="1874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Microsoft Presidio flags names, dates, SSNs, locations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43800" y="1554480"/>
            <a:ext cx="2103120" cy="411480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16459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BA14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240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F4F4"/>
                </a:solidFill>
                <a:latin typeface="Calibri"/>
              </a:rPr>
              <a:t>Redaction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697480"/>
            <a:ext cx="1874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Each PHI token replaced inline: &lt;PERSON&gt;, &lt;DATE_TIME&gt;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1554480"/>
            <a:ext cx="2103120" cy="411480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12680" y="16459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BA14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2240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F4F4"/>
                </a:solidFill>
                <a:latin typeface="Calibri"/>
              </a:rPr>
              <a:t>SOAP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697480"/>
            <a:ext cx="1874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Local Llama 3.2 model generates clinical note from clean 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52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A14F"/>
                </a:solidFill>
                <a:latin typeface="Calibri"/>
              </a:rPr>
              <a:t>Zero PHI reaches the AI model at any point.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234440"/>
            <a:ext cx="11091672" cy="12700"/>
          </a:xfrm>
          <a:prstGeom prst="rect">
            <a:avLst/>
          </a:prstGeom>
          <a:solidFill>
            <a:srgbClr val="BB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4F4F4"/>
                </a:solidFill>
                <a:latin typeface="Calibri"/>
              </a:rPr>
              <a:t>What is Available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3566160" cy="411480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A14F"/>
                </a:solidFill>
                <a:latin typeface="Calibri"/>
              </a:rPr>
              <a:t>Local Docker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4"/>
                </a:solidFill>
                <a:latin typeface="Calibri"/>
              </a:rPr>
              <a:t>Full pipeline runs in Docker. One command brings up the backend, Whisper, Presidio, and Ollama. Real-time transcription and redaction from any audio file.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554480"/>
            <a:ext cx="3566160" cy="411480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A14F"/>
                </a:solidFill>
                <a:latin typeface="Calibri"/>
              </a:rPr>
              <a:t>Static Web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4"/>
                </a:solidFill>
                <a:latin typeface="Calibri"/>
              </a:rPr>
              <a:t>Hosted at pavan-249.github.io/plaud-ai-demo. Shows pre-computed Whisper output from a real clinical consultation recording with PHI detected and redacted inline.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554480"/>
            <a:ext cx="3566160" cy="411480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A14F"/>
                </a:solidFill>
                <a:latin typeface="Calibri"/>
              </a:rPr>
              <a:t>Live PHI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1945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4"/>
                </a:solidFill>
                <a:latin typeface="Calibri"/>
              </a:rPr>
              <a:t>Type or paste any transcript. PHI is highlighted and redacted in real time in the browser using a local regex engine, no server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234440"/>
            <a:ext cx="11091672" cy="12700"/>
          </a:xfrm>
          <a:prstGeom prst="rect">
            <a:avLst/>
          </a:prstGeom>
          <a:solidFill>
            <a:srgbClr val="BB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4F4F4"/>
                </a:solidFill>
                <a:latin typeface="Calibri"/>
              </a:rPr>
              <a:t>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59436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Transcription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58191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F4F4"/>
                </a:solidFill>
                <a:latin typeface="Calibri"/>
              </a:rPr>
              <a:t>OpenAI Whisper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58191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Runs fully on-device, no API key needed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67128"/>
            <a:ext cx="11064240" cy="594360"/>
          </a:xfrm>
          <a:prstGeom prst="rect">
            <a:avLst/>
          </a:prstGeom>
          <a:solidFill>
            <a:srgbClr val="101010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PHI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240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F4F4"/>
                </a:solidFill>
                <a:latin typeface="Calibri"/>
              </a:rPr>
              <a:t>Microsoft Presidio + spaCy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240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Identifies 9+ entity types in real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25496"/>
            <a:ext cx="11064240" cy="59436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Redaction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8986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F4F4"/>
                </a:solidFill>
                <a:latin typeface="Calibri"/>
              </a:rPr>
              <a:t>Presidio Anonymizer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8986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Inline replacement, original structure preserved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83864"/>
            <a:ext cx="11064240" cy="594360"/>
          </a:xfrm>
          <a:prstGeom prst="rect">
            <a:avLst/>
          </a:prstGeom>
          <a:solidFill>
            <a:srgbClr val="101010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5701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AI Summarization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55701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F4F4"/>
                </a:solidFill>
                <a:latin typeface="Calibri"/>
              </a:rPr>
              <a:t>Llama 3.2 via Ollama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55701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Self-hosted, air-gap ready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42232"/>
            <a:ext cx="11064240" cy="59436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1538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21538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F4F4"/>
                </a:solidFill>
                <a:latin typeface="Calibri"/>
              </a:rPr>
              <a:t>FastAPI + Python 3.10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21538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Lightweight, async REST 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00600"/>
            <a:ext cx="11064240" cy="594360"/>
          </a:xfrm>
          <a:prstGeom prst="rect">
            <a:avLst/>
          </a:prstGeom>
          <a:solidFill>
            <a:srgbClr val="101010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87375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F4F4"/>
                </a:solidFill>
                <a:latin typeface="Calibri"/>
              </a:rPr>
              <a:t>HTML / CSS / JS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8737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Zero framework dependencies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458968"/>
            <a:ext cx="11064240" cy="59436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532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5532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F4F4"/>
                </a:solidFill>
                <a:latin typeface="Calibri"/>
              </a:rPr>
              <a:t>Docker Compose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532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One command, fully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1091672" cy="12700"/>
          </a:xfrm>
          <a:prstGeom prst="rect">
            <a:avLst/>
          </a:prstGeom>
          <a:solidFill>
            <a:srgbClr val="BB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4F4F4"/>
                </a:solidFill>
                <a:latin typeface="Calibri"/>
              </a:rPr>
              <a:t>Try It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BA14F"/>
                </a:solidFill>
                <a:latin typeface="Calibri"/>
              </a:rPr>
              <a:t>pavan-249.github.io/plaud-ai-demo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  <a:latin typeface="Calibri"/>
              </a:rPr>
              <a:t>github.com/Pavan-249/plaud-ai-demo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